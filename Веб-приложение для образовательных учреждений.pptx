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4" r:id="rId10"/>
    <p:sldId id="269" r:id="rId11"/>
    <p:sldId id="265" r:id="rId12"/>
    <p:sldId id="270" r:id="rId13"/>
    <p:sldId id="271" r:id="rId14"/>
    <p:sldId id="267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7F908F-216A-4423-AD07-BE6298A2EDB4}">
  <a:tblStyle styleId="{837F908F-216A-4423-AD07-BE6298A2ED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92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4221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928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3273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" y="481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998942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FACFE"/>
                </a:solidFill>
                <a:latin typeface="Lato"/>
                <a:ea typeface="Lato"/>
                <a:cs typeface="Lato"/>
                <a:sym typeface="Lato"/>
              </a:rPr>
              <a:t>КУРСОВАЯ РАБОТА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368482"/>
            <a:ext cx="11581447" cy="22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РАЗРАБОТКА МНОГОПОЛЬЗОВАТЕЛЬСКОГО ВЕБ-ПРИЛОЖЕНИЯ ДЛЯ ОБРАЗОВАТЕЛЬНЫХ УЧРЕЖДЕНИЙ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50" y="5012265"/>
            <a:ext cx="952500" cy="1905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310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57438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14400" y="226406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Стремительная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цифровизация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Рынок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ИИ в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образовании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в 2025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году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достиг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$7,57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млрд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300314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Оптимизация процессов: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Автоматизация проверки заданий снижает рутинную нагрузку на 30%.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3742222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Обратная связь: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Мгновенные результаты снижают уровень отсева студентов на 10-20%.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481302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Доступность: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Преодоление географических барьеров для инклюзивного образования.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АКТУАЛЬНОСТЬ ТЕМЫ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36993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0901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481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58718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18432"/>
            <a:ext cx="3486150" cy="325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18432"/>
            <a:ext cx="3486150" cy="325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18432"/>
            <a:ext cx="3486150" cy="325933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66775" y="3180457"/>
            <a:ext cx="306038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ОСНОВНАЯ ЦЕЛЬ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3637657"/>
            <a:ext cx="2914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Создание интегрированной экосистемы для эффективного взаимодействия студентов, преподавателей и администрации.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38675" y="3180457"/>
            <a:ext cx="306038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КЛЮЧЕВЫЕ ЗАДАЧИ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38675" y="3637657"/>
            <a:ext cx="2914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Анализ предметной области, проектирование клиент-серверной архитектуры и реализация модуля проверки кода.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10575" y="3180457"/>
            <a:ext cx="306038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ПРИОРИТЕТ: БЕЗОПАСНОСТЬ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10575" y="3637657"/>
            <a:ext cx="2914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Обеспечение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ролевого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разграничения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прав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изоляция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исполнения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пользовательских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скриптов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708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8675" y="25708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0575" y="257085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ЦЕЛИ И ЗАДАЧИ ПРОЕКТИРОВАНИЯ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13648" y="2554635"/>
            <a:ext cx="110299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FACFE"/>
                </a:solidFill>
                <a:latin typeface="Lato"/>
                <a:ea typeface="Lato"/>
                <a:cs typeface="Lato"/>
                <a:sym typeface="Lato"/>
              </a:rPr>
              <a:t>BACKEND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237899" y="3000375"/>
            <a:ext cx="1158144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4FACFE"/>
                </a:solidFill>
                <a:latin typeface="Poppins"/>
                <a:ea typeface="Poppins"/>
                <a:cs typeface="Poppins"/>
                <a:sym typeface="Poppins"/>
              </a:rPr>
              <a:t>СЕРВЕРНАЯ ЧАСТЬ И АРХИТЕКТУРА</a:t>
            </a:r>
            <a:endParaRPr dirty="0"/>
          </a:p>
        </p:txBody>
      </p:sp>
      <p:sp>
        <p:nvSpPr>
          <p:cNvPr id="148" name="Google Shape;148;p17"/>
          <p:cNvSpPr/>
          <p:nvPr/>
        </p:nvSpPr>
        <p:spPr>
          <a:xfrm>
            <a:off x="5742873" y="4143375"/>
            <a:ext cx="571500" cy="381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6715125" y="2628788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Студент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Просмотр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курсов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прохождение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тестов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загрузка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кода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для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мгновенной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валидации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715125" y="3367868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Преподаватель: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Создание контента, управление тестами, мониторинг успеваемости и экспорт отчетов.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15125" y="4106949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Администратор: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Управление учетными записями, аудит логов безопасности и системные настройки.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ФУНКЦИОНАЛЬНЫЕ РОЛИ УЧАСТНИКОВ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3947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4785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21764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012998-5F75-4BEA-BF2A-69E75930E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759" y="2264143"/>
            <a:ext cx="5882439" cy="32112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81025" y="4874865"/>
            <a:ext cx="11029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* Модель RBAC (Role-Based Access Control) обеспечивает принцип наименьших привилегий.</a:t>
            </a:r>
            <a:endParaRPr/>
          </a:p>
        </p:txBody>
      </p:sp>
      <p:graphicFrame>
        <p:nvGraphicFramePr>
          <p:cNvPr id="172" name="Google Shape;172;p19"/>
          <p:cNvGraphicFramePr/>
          <p:nvPr/>
        </p:nvGraphicFramePr>
        <p:xfrm>
          <a:off x="581025" y="2665065"/>
          <a:ext cx="11020425" cy="1924025"/>
        </p:xfrm>
        <a:graphic>
          <a:graphicData uri="http://schemas.openxmlformats.org/drawingml/2006/table">
            <a:tbl>
              <a:tblPr firstRow="1" bandRow="1">
                <a:noFill/>
                <a:tableStyleId>{837F908F-216A-4423-AD07-BE6298A2EDB4}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3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FAC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Группа (Роль)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FAC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Регистрация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FAC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Политики безопасности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FAC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Создание тестов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FAC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Проверка результатов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FAC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Прохождение тестов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Администратор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Преподаватель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Студент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148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2864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850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2864" y="427002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7636" y="378425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2864" y="378425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850" y="378425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52873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7636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52873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148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7636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850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2864" y="32984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7636" y="378425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0850" y="378425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2864" y="378425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2864" y="427002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МАТРИЦА ПРАВ ДОСТУПА (RBAC)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81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310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5262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914400" y="224962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Python &amp; FastAPI: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Обеспечение асинхронности и высокой производительности API.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14400" y="298870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Pydantic: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Строгая типизация и валидация входящих JSON-объектов.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14400" y="3727782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ASGI (Uvicorn):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Обработка асинхронных запросов без блокировки потоков.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14400" y="4466862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Docker: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Контейнеризация для воспроизводимости среды и изоляции.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ТЕХНОЛОГИЧЕСКИЙ СТЕК BACKEND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36993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0901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481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58718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19350"/>
            <a:ext cx="52292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428875"/>
            <a:ext cx="5210175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40789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38487" y="3776662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500241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1352550" y="1829841"/>
            <a:ext cx="437054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4FACFE"/>
                </a:solidFill>
                <a:latin typeface="Poppins"/>
                <a:ea typeface="Poppins"/>
                <a:cs typeface="Poppins"/>
                <a:sym typeface="Poppins"/>
              </a:rPr>
              <a:t>ЭТАП ПРОЕКТИРОВАНИЯ: CSV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352550" y="2277516"/>
            <a:ext cx="41624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Используется для быстрого прототипирования и верификации бизнес-логики без сложной инфраструктуры.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314450" y="4424362"/>
            <a:ext cx="441055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4FACFE"/>
                </a:solidFill>
                <a:latin typeface="Poppins"/>
                <a:ea typeface="Poppins"/>
                <a:cs typeface="Poppins"/>
                <a:sym typeface="Poppins"/>
              </a:rPr>
              <a:t>ЦЕЛЕВОЙ ЭТАП: POSTGRESQL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314450" y="4872037"/>
            <a:ext cx="42005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Переход на RDBMS обеспечит поддержку ACID транзакций, целостность связей и высокую скорость поиска.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СТРАТЕГИЯ ХРАНЕНИЯ ДАННЫХ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61307"/>
            <a:ext cx="3486150" cy="2973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61307"/>
            <a:ext cx="3486150" cy="2973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61307"/>
            <a:ext cx="3486150" cy="297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866775" y="3323332"/>
            <a:ext cx="306038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АНАЛИЗ AST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66775" y="3780532"/>
            <a:ext cx="2914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Статический анализ кода перед запуском. Блокировка опасных модулей (os, subprocess) и функций (eval, open).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638675" y="3323332"/>
            <a:ext cx="306038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ИЗОЛЯЦИЯ ПРОЦЕССОВ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38675" y="3780532"/>
            <a:ext cx="2914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Использование модуля multiprocessing и жестких лимитов времени (Timeout) для предотвращения DoS-атак.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410575" y="3323332"/>
            <a:ext cx="306038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КОНТЕЙНЕРИЗАЦИЯ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410575" y="3780532"/>
            <a:ext cx="2914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Исполнение кода в эфемерных Docker-контейнерах с правами "только на чтение" для системных директорий.</a:t>
            </a:r>
            <a:endParaRPr/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1373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8675" y="27137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0575" y="271373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МОДУЛЬ «ПЕСОЧНИЦА» (SANDBOX)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13648" y="2554635"/>
            <a:ext cx="110299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FACFE"/>
                </a:solidFill>
                <a:latin typeface="Lato"/>
                <a:ea typeface="Lato"/>
                <a:cs typeface="Lato"/>
                <a:sym typeface="Lato"/>
              </a:rPr>
              <a:t>FRONTEND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237899" y="3000375"/>
            <a:ext cx="1158144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i="0" u="none" strike="noStrike" cap="none" dirty="0">
                <a:solidFill>
                  <a:srgbClr val="4FACFE"/>
                </a:solidFill>
                <a:latin typeface="Poppins"/>
                <a:ea typeface="Poppins"/>
                <a:cs typeface="Poppins"/>
                <a:sym typeface="Poppins"/>
              </a:rPr>
              <a:t>ИНТЕРФЕЙС (</a:t>
            </a:r>
            <a:r>
              <a:rPr lang="en-US" sz="4500" b="1" i="0" u="none" strike="noStrike" cap="none" dirty="0">
                <a:solidFill>
                  <a:srgbClr val="4FACFE"/>
                </a:solidFill>
                <a:latin typeface="Poppins"/>
                <a:ea typeface="Poppins"/>
                <a:cs typeface="Poppins"/>
                <a:sym typeface="Poppins"/>
              </a:rPr>
              <a:t>GUI</a:t>
            </a:r>
            <a:r>
              <a:rPr lang="ru-RU" sz="4500" b="1" i="0" u="none" strike="noStrike" cap="none" dirty="0">
                <a:solidFill>
                  <a:srgbClr val="4FACFE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endParaRPr dirty="0"/>
          </a:p>
        </p:txBody>
      </p:sp>
      <p:sp>
        <p:nvSpPr>
          <p:cNvPr id="148" name="Google Shape;148;p17"/>
          <p:cNvSpPr/>
          <p:nvPr/>
        </p:nvSpPr>
        <p:spPr>
          <a:xfrm>
            <a:off x="5742873" y="4143375"/>
            <a:ext cx="571500" cy="381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2497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6715125" y="2264060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Native Web Stack: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Использование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чистого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JS, HTML5 и CSS3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без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тяжелых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фреймворков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36" name="Google Shape;236;p22"/>
          <p:cNvSpPr txBox="1"/>
          <p:nvPr/>
        </p:nvSpPr>
        <p:spPr>
          <a:xfrm>
            <a:off x="6715125" y="3003140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Минимализм: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Стиль Glassmorphism для визуальной глубины без перегрузки интерфейса.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715125" y="374222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Mobile-First: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Интерфейс сначала проектируется для смартфонов, затем расширяется для десктопов.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715125" y="448130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Дизайн-токены: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Централизованное управление стилями через CSS-переменные.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КЛИЕНТСКАЯ ЧАСТЬ (FRONTEND)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6993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10901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8481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5871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055AAA-183F-42A4-B287-64CBCDE34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96" y="2264060"/>
            <a:ext cx="5774104" cy="31520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84D2ED-8FF9-46EF-AC74-EEB0BEF1C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7339"/>
            <a:ext cx="12200722" cy="5890661"/>
          </a:xfrm>
          <a:prstGeom prst="rect">
            <a:avLst/>
          </a:prstGeom>
        </p:spPr>
      </p:pic>
      <p:sp>
        <p:nvSpPr>
          <p:cNvPr id="8" name="Google Shape;147;p17">
            <a:extLst>
              <a:ext uri="{FF2B5EF4-FFF2-40B4-BE49-F238E27FC236}">
                <a16:creationId xmlns:a16="http://schemas.microsoft.com/office/drawing/2014/main" id="{41E87775-9F65-4CB6-B574-211C579DE12A}"/>
              </a:ext>
            </a:extLst>
          </p:cNvPr>
          <p:cNvSpPr txBox="1"/>
          <p:nvPr/>
        </p:nvSpPr>
        <p:spPr>
          <a:xfrm>
            <a:off x="391903" y="110089"/>
            <a:ext cx="1158144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i="0" u="none" strike="noStrike" cap="none" dirty="0">
                <a:solidFill>
                  <a:srgbClr val="4FACFE"/>
                </a:solidFill>
                <a:latin typeface="Poppins"/>
                <a:ea typeface="Poppins"/>
                <a:cs typeface="Poppins"/>
                <a:sym typeface="Poppins"/>
              </a:rPr>
              <a:t>ПРИМЕР БЕЛОЙ ТЕМЫ ПРИЛОЖЕНИЯ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6193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7;p17">
            <a:extLst>
              <a:ext uri="{FF2B5EF4-FFF2-40B4-BE49-F238E27FC236}">
                <a16:creationId xmlns:a16="http://schemas.microsoft.com/office/drawing/2014/main" id="{41E87775-9F65-4CB6-B574-211C579DE12A}"/>
              </a:ext>
            </a:extLst>
          </p:cNvPr>
          <p:cNvSpPr txBox="1"/>
          <p:nvPr/>
        </p:nvSpPr>
        <p:spPr>
          <a:xfrm>
            <a:off x="391903" y="110089"/>
            <a:ext cx="1158144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i="0" u="none" strike="noStrike" cap="none" dirty="0">
                <a:solidFill>
                  <a:srgbClr val="4FACFE"/>
                </a:solidFill>
                <a:latin typeface="Poppins"/>
                <a:ea typeface="Poppins"/>
                <a:cs typeface="Poppins"/>
                <a:sym typeface="Poppins"/>
              </a:rPr>
              <a:t>ПРИМЕР ТЕМНОЙ ТЕМЫ ПРИЛОЖЕНИЯ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687134-D81E-4066-AC5D-60777FA52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2025"/>
            <a:ext cx="1219200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53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581025" y="1764984"/>
            <a:ext cx="110299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4FACFE"/>
                </a:solidFill>
                <a:latin typeface="Lato"/>
                <a:ea typeface="Lato"/>
                <a:cs typeface="Lato"/>
                <a:sym typeface="Lato"/>
              </a:rPr>
              <a:t>СПАСИБО ЗА ВНИМАНИЕ!</a:t>
            </a:r>
            <a:endParaRPr sz="4000" dirty="0"/>
          </a:p>
        </p:txBody>
      </p:sp>
      <p:sp>
        <p:nvSpPr>
          <p:cNvPr id="270" name="Google Shape;270;p24"/>
          <p:cNvSpPr txBox="1"/>
          <p:nvPr/>
        </p:nvSpPr>
        <p:spPr>
          <a:xfrm>
            <a:off x="581025" y="4043675"/>
            <a:ext cx="110299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Готов</a:t>
            </a:r>
            <a:r>
              <a:rPr lang="ru-RU" sz="20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ы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ответить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на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ваши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вопросы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413</Words>
  <Application>Microsoft Office PowerPoint</Application>
  <PresentationFormat>Широкоэкранный</PresentationFormat>
  <Paragraphs>65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Poppins</vt:lpstr>
      <vt:lpstr>Poppins SemiBold</vt:lpstr>
      <vt:lpstr>Lato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rarpppzzpz@gmail.com</cp:lastModifiedBy>
  <cp:revision>4</cp:revision>
  <dcterms:modified xsi:type="dcterms:W3CDTF">2026-01-15T07:29:35Z</dcterms:modified>
</cp:coreProperties>
</file>